
<file path=[Content_Types].xml><?xml version="1.0" encoding="utf-8"?>
<Types xmlns="http://schemas.openxmlformats.org/package/2006/content-types">
  <Default Extension="xml" ContentType="application/xml"/>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handoutMasterIdLst>
    <p:handoutMasterId r:id="rId16"/>
  </p:handoutMasterIdLst>
  <p:sldIdLst>
    <p:sldId id="338" r:id="rId3"/>
    <p:sldId id="327" r:id="rId4"/>
    <p:sldId id="315" r:id="rId5"/>
    <p:sldId id="329" r:id="rId6"/>
    <p:sldId id="302" r:id="rId7"/>
    <p:sldId id="339" r:id="rId9"/>
    <p:sldId id="340" r:id="rId10"/>
    <p:sldId id="344" r:id="rId11"/>
    <p:sldId id="345" r:id="rId12"/>
    <p:sldId id="347" r:id="rId13"/>
    <p:sldId id="348" r:id="rId14"/>
    <p:sldId id="30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40" userDrawn="1">
          <p15:clr>
            <a:srgbClr val="A4A3A4"/>
          </p15:clr>
        </p15:guide>
        <p15:guide id="2" pos="426" userDrawn="1">
          <p15:clr>
            <a:srgbClr val="A4A3A4"/>
          </p15:clr>
        </p15:guide>
        <p15:guide id="3" orient="horz" pos="3892" userDrawn="1">
          <p15:clr>
            <a:srgbClr val="A4A3A4"/>
          </p15:clr>
        </p15:guide>
        <p15:guide id="4" pos="7264" userDrawn="1">
          <p15:clr>
            <a:srgbClr val="A4A3A4"/>
          </p15:clr>
        </p15:guide>
        <p15:guide id="5" orient="horz" pos="165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6E25E649-3F16-4E02-A733-19D2CDBF48F0}"/>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85" autoAdjust="0"/>
    <p:restoredTop sz="95033" autoAdjust="0"/>
  </p:normalViewPr>
  <p:slideViewPr>
    <p:cSldViewPr snapToGrid="0" showGuides="1">
      <p:cViewPr varScale="1">
        <p:scale>
          <a:sx n="82" d="100"/>
          <a:sy n="82" d="100"/>
        </p:scale>
        <p:origin x="624" y="72"/>
      </p:cViewPr>
      <p:guideLst>
        <p:guide orient="horz" pos="1940"/>
        <p:guide pos="426"/>
        <p:guide orient="horz" pos="3892"/>
        <p:guide pos="7264"/>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notesMaster" Target="notesMasters/notesMaster1.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customXml" Target="../customXml/item3.xml"/><Relationship Id="rId21" Type="http://schemas.openxmlformats.org/officeDocument/2006/relationships/customXml" Target="../customXml/item2.xml"/><Relationship Id="rId20" Type="http://schemas.openxmlformats.org/officeDocument/2006/relationships/customXml" Target="../customXml/item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handoutMaster" Target="handoutMasters/handoutMaster1.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fld>
            <a:endParaRPr lang="en-US" noProof="0"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fld>
            <a:endParaRPr lang="en-US" noProof="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fld>
            <a:endParaRPr lang="en-US" dirty="0"/>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130" indent="0">
              <a:buNone/>
              <a:defRPr sz="1000"/>
            </a:lvl8pPr>
            <a:lvl9pPr marL="365633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42A54C80-263E-416B-A8E0-580EDEADCBDC}"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fld>
            <a:endParaRPr lang="en-US" dirty="0"/>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fld>
            <a:endParaRPr lang="en-US" dirty="0"/>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panose="020B0604020202020204"/>
              </a:rPr>
              <a:t>”</a:t>
            </a:r>
            <a:endParaRPr lang="en-US" sz="8000" baseline="0" dirty="0">
              <a:ln w="3175" cmpd="sng">
                <a:noFill/>
              </a:ln>
              <a:solidFill>
                <a:schemeClr val="accent1">
                  <a:lumMod val="60000"/>
                  <a:lumOff val="40000"/>
                </a:schemeClr>
              </a:solidFill>
              <a:effectLst/>
              <a:latin typeface="Arial" panose="020B0604020202020204"/>
            </a:endParaRPr>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endParaRPr lang="en-US"/>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fld>
            <a:endParaRPr lang="en-US" dirty="0"/>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fld>
            <a:endParaRPr lang="en-US" dirty="0"/>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endParaRPr lang="en-US"/>
          </a:p>
          <a:p>
            <a:pPr lvl="1"/>
            <a:r>
              <a:rPr lang="en-US"/>
              <a:t>Second level</a:t>
            </a:r>
            <a:endParaRPr lang="en-US"/>
          </a:p>
        </p:txBody>
      </p:sp>
      <p:sp>
        <p:nvSpPr>
          <p:cNvPr id="15" name="Hexagon 14"/>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endParaRPr lang="en-US"/>
          </a:p>
        </p:txBody>
      </p:sp>
      <p:sp>
        <p:nvSpPr>
          <p:cNvPr id="8"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endParaRPr lang="en-US"/>
          </a:p>
        </p:txBody>
      </p:sp>
      <p:sp>
        <p:nvSpPr>
          <p:cNvPr id="19" name="Rectangle 18"/>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4" name="Text Placeholder 22"/>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7" name="Text Placeholder 22"/>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28" name="Text Placeholder 22"/>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29" name="Text Placeholder 22"/>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0" name="Text Placeholder 22"/>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1" name="Text Placeholder 22"/>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2" name="Text Placeholder 22"/>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3" name="Text Placeholder 22"/>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endParaRPr lang="en-US"/>
          </a:p>
        </p:txBody>
      </p:sp>
      <p:sp>
        <p:nvSpPr>
          <p:cNvPr id="34" name="Text Placeholder 22"/>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endParaRPr lang="en-US"/>
          </a:p>
        </p:txBody>
      </p:sp>
      <p:sp>
        <p:nvSpPr>
          <p:cNvPr id="37" name="Picture Placeholder 36"/>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showMasterSp="0"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endParaRPr lang="en-US" dirty="0"/>
          </a:p>
        </p:txBody>
      </p:sp>
      <p:sp>
        <p:nvSpPr>
          <p:cNvPr id="6" name="Title 1"/>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2" Type="http://schemas.openxmlformats.org/officeDocument/2006/relationships/theme" Target="../theme/theme1.xml"/><Relationship Id="rId21" Type="http://schemas.openxmlformats.org/officeDocument/2006/relationships/slideLayout" Target="../slideLayouts/slideLayout21.xml"/><Relationship Id="rId20" Type="http://schemas.openxmlformats.org/officeDocument/2006/relationships/slideLayout" Target="../slideLayouts/slideLayout20.xml"/><Relationship Id="rId2" Type="http://schemas.openxmlformats.org/officeDocument/2006/relationships/slideLayout" Target="../slideLayouts/slideLayout2.xml"/><Relationship Id="rId19" Type="http://schemas.openxmlformats.org/officeDocument/2006/relationships/slideLayout" Target="../slideLayouts/slideLayout19.xml"/><Relationship Id="rId18" Type="http://schemas.openxmlformats.org/officeDocument/2006/relationships/slideLayout" Target="../slideLayouts/slideLayout18.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fld>
            <a:endParaRPr lang="en-US" dirty="0"/>
          </a:p>
        </p:txBody>
      </p:sp>
      <p:sp>
        <p:nvSpPr>
          <p:cNvPr id="18" name="Date Placeholder 3"/>
          <p:cNvSpPr txBox="1"/>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fld>
            <a:endParaRPr lang="en-US" sz="1100" dirty="0">
              <a:solidFill>
                <a:schemeClr val="accent2"/>
              </a:solidFill>
            </a:endParaRPr>
          </a:p>
        </p:txBody>
      </p:sp>
      <p:sp>
        <p:nvSpPr>
          <p:cNvPr id="29" name="Footer Placeholder 4"/>
          <p:cNvSpPr txBox="1"/>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endParaRPr lang="en-US" sz="1100" b="1" dirty="0">
              <a:solidFill>
                <a:schemeClr val="accent2"/>
              </a:solidFill>
            </a:endParaRPr>
          </a:p>
        </p:txBody>
      </p:sp>
      <p:sp>
        <p:nvSpPr>
          <p:cNvPr id="30" name="Slide Number Placeholder 5"/>
          <p:cNvSpPr txBox="1"/>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fld>
            <a:endParaRPr lang="en-US" sz="1100" dirty="0">
              <a:solidFill>
                <a:schemeClr val="accent4"/>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8.xml"/><Relationship Id="rId2" Type="http://schemas.openxmlformats.org/officeDocument/2006/relationships/image" Target="../media/image5.png"/><Relationship Id="rId1"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6.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7.png"/><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8.png"/><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9.png"/><Relationship Id="rId1" Type="http://schemas.openxmlformats.org/officeDocument/2006/relationships/image" Target="../media/image1.jpe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19.xml"/><Relationship Id="rId2" Type="http://schemas.openxmlformats.org/officeDocument/2006/relationships/image" Target="../media/image10.png"/><Relationship Id="rId1" Type="http://schemas.openxmlformats.org/officeDocument/2006/relationships/image" Target="../media/image1.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image" Target="../media/image1.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0.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1"/>
          </p:nvPr>
        </p:nvSpPr>
        <p:spPr>
          <a:xfrm>
            <a:off x="678180" y="3588385"/>
            <a:ext cx="5417820" cy="861695"/>
          </a:xfrm>
        </p:spPr>
        <p:txBody>
          <a:bodyPr vert="horz" lIns="91440" tIns="45720" rIns="91440" bIns="45720" rtlCol="0" anchor="t">
            <a:noAutofit/>
          </a:bodyPr>
          <a:lstStyle/>
          <a:p>
            <a:pPr algn="l"/>
            <a:r>
              <a:rPr lang="en-IN" altLang="en-US" b="0" dirty="0">
                <a:solidFill>
                  <a:schemeClr val="tx1"/>
                </a:solidFill>
              </a:rPr>
              <a:t>Submitted by : Gautham Krishna G</a:t>
            </a:r>
            <a:endParaRPr lang="en-IN" altLang="en-US" b="0" dirty="0">
              <a:solidFill>
                <a:schemeClr val="tx1"/>
              </a:solidFill>
            </a:endParaRPr>
          </a:p>
          <a:p>
            <a:pPr algn="l"/>
            <a:r>
              <a:rPr lang="en-IN" altLang="en-US" b="0" dirty="0">
                <a:solidFill>
                  <a:schemeClr val="tx1"/>
                </a:solidFill>
              </a:rPr>
              <a:t>Sree Buddha College of Engineering, Pattoor</a:t>
            </a:r>
            <a:endParaRPr lang="en-IN" altLang="en-US" b="0" dirty="0">
              <a:solidFill>
                <a:schemeClr val="tx1"/>
              </a:solidFill>
            </a:endParaRPr>
          </a:p>
        </p:txBody>
      </p:sp>
      <p:sp>
        <p:nvSpPr>
          <p:cNvPr id="4" name="Title 3"/>
          <p:cNvSpPr>
            <a:spLocks noGrp="1"/>
          </p:cNvSpPr>
          <p:nvPr>
            <p:ph type="title"/>
          </p:nvPr>
        </p:nvSpPr>
        <p:spPr>
          <a:xfrm>
            <a:off x="678180" y="2844800"/>
            <a:ext cx="9836785" cy="743585"/>
          </a:xfrm>
        </p:spPr>
        <p:txBody>
          <a:bodyPr>
            <a:normAutofit fontScale="90000"/>
          </a:bodyPr>
          <a:lstStyle/>
          <a:p>
            <a:r>
              <a:rPr lang="en-GB" sz="3110" dirty="0"/>
              <a:t>Project Title -</a:t>
            </a:r>
            <a:r>
              <a:rPr lang="en-US" altLang="en-US" sz="3110" dirty="0"/>
              <a:t>Healthcare Analytics for Doctor Visits</a:t>
            </a:r>
            <a:r>
              <a:rPr lang="en-IN" altLang="en-US" sz="3110" dirty="0"/>
              <a:t> TIRTC</a:t>
            </a:r>
            <a:endParaRPr lang="en-IN" altLang="en-US" sz="3110" dirty="0"/>
          </a:p>
        </p:txBody>
      </p:sp>
      <p:sp>
        <p:nvSpPr>
          <p:cNvPr id="15" name="Text Placeholder 1"/>
          <p:cNvSpPr txBox="1"/>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panose="05040102010807070707"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3" name="TextBox 2"/>
          <p:cNvSpPr txBox="1"/>
          <p:nvPr/>
        </p:nvSpPr>
        <p:spPr>
          <a:xfrm>
            <a:off x="678180" y="4640580"/>
            <a:ext cx="5274945" cy="368300"/>
          </a:xfrm>
          <a:prstGeom prst="rect">
            <a:avLst/>
          </a:prstGeom>
          <a:noFill/>
        </p:spPr>
        <p:txBody>
          <a:bodyPr wrap="square" rtlCol="0">
            <a:spAutoFit/>
          </a:bodyPr>
          <a:lstStyle/>
          <a:p>
            <a:pPr algn="l"/>
            <a:r>
              <a:rPr lang="en-US" b="1" dirty="0"/>
              <a:t>AICTE STU ID :</a:t>
            </a:r>
            <a:r>
              <a:rPr lang="en-IN" altLang="en-US" b="1" dirty="0"/>
              <a:t> </a:t>
            </a:r>
            <a:r>
              <a:rPr lang="en-US" altLang="en-US" b="1" dirty="0"/>
              <a:t>STU6a68c4627a09d1785250914</a:t>
            </a:r>
            <a:r>
              <a:rPr lang="en-US" b="1" dirty="0"/>
              <a:t> </a:t>
            </a:r>
            <a:endParaRPr lang="en-IN" altLang="en-US"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2"/>
          </p:nvPr>
        </p:nvSpPr>
        <p:spPr>
          <a:xfrm>
            <a:off x="1046480" y="2123440"/>
            <a:ext cx="6995160" cy="3676650"/>
          </a:xfrm>
        </p:spPr>
        <p:txBody>
          <a:bodyPr vert="horz" lIns="91440" tIns="45720" rIns="91440" bIns="45720" rtlCol="0" anchor="t">
            <a:noAutofit/>
          </a:bodyPr>
          <a:lstStyle/>
          <a:p>
            <a:pPr marL="0" indent="0" algn="just">
              <a:lnSpc>
                <a:spcPct val="100000"/>
              </a:lnSpc>
              <a:buNone/>
            </a:pPr>
            <a:r>
              <a:rPr lang="en-US" altLang="en-US" dirty="0"/>
              <a:t>Healthcare providers and insurers need to understand what actually drives people to visit the doctor — is it income, illness severity, chronic conditions, or insurance coverage? This project analyzes patient-level health survey data to uncover which factors are linked to higher doctor visit frequency, and how illness impact differs across gender and income groups.</a:t>
            </a:r>
            <a:endParaRPr lang="en-US" altLang="en-US" dirty="0"/>
          </a:p>
        </p:txBody>
      </p:sp>
      <p:sp>
        <p:nvSpPr>
          <p:cNvPr id="4" name="Title 3"/>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p:cNvPicPr>
            <a:picLocks noChangeAspect="1"/>
          </p:cNvPicPr>
          <p:nvPr/>
        </p:nvPicPr>
        <p:blipFill>
          <a:blip r:embed="rId1"/>
          <a:stretch>
            <a:fillRect/>
          </a:stretch>
        </p:blipFill>
        <p:spPr>
          <a:xfrm>
            <a:off x="7995684" y="2930834"/>
            <a:ext cx="2760758" cy="3264409"/>
          </a:xfrm>
          <a:prstGeom prst="rect">
            <a:avLst/>
          </a:prstGeom>
        </p:spPr>
      </p:pic>
      <p:pic>
        <p:nvPicPr>
          <p:cNvPr id="6" name="Picture 5"/>
          <p:cNvPicPr>
            <a:picLocks noChangeAspect="1"/>
          </p:cNvPicPr>
          <p:nvPr/>
        </p:nvPicPr>
        <p:blipFill rotWithShape="1">
          <a:blip r:embed="rId2"/>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p:cNvSpPr>
            <a:spLocks noGrp="1"/>
          </p:cNvSpPr>
          <p:nvPr>
            <p:ph type="title"/>
          </p:nvPr>
        </p:nvSpPr>
        <p:spPr>
          <a:xfrm>
            <a:off x="660399" y="511208"/>
            <a:ext cx="6276109" cy="830997"/>
          </a:xfrm>
        </p:spPr>
        <p:txBody>
          <a:bodyPr>
            <a:normAutofit fontScale="90000"/>
          </a:bodyPr>
          <a:lstStyle/>
          <a:p>
            <a:r>
              <a:rPr lang="en-GB" dirty="0"/>
              <a:t>Project Description</a:t>
            </a:r>
            <a:br>
              <a:rPr lang="en-GB" dirty="0"/>
            </a:br>
            <a:br>
              <a:rPr lang="en-GB" dirty="0"/>
            </a:br>
            <a:endParaRPr lang="en-IN" dirty="0"/>
          </a:p>
        </p:txBody>
      </p:sp>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pic>
        <p:nvPicPr>
          <p:cNvPr id="6" name="Picture 5"/>
          <p:cNvPicPr>
            <a:picLocks noChangeAspect="1"/>
          </p:cNvPicPr>
          <p:nvPr/>
        </p:nvPicPr>
        <p:blipFill>
          <a:blip r:embed="rId2"/>
          <a:stretch>
            <a:fillRect/>
          </a:stretch>
        </p:blipFill>
        <p:spPr>
          <a:xfrm>
            <a:off x="467359" y="6410461"/>
            <a:ext cx="3706253" cy="296092"/>
          </a:xfrm>
          <a:prstGeom prst="rect">
            <a:avLst/>
          </a:prstGeom>
        </p:spPr>
      </p:pic>
      <p:sp>
        <p:nvSpPr>
          <p:cNvPr id="2" name="Text Placeholder 1"/>
          <p:cNvSpPr>
            <a:spLocks noGrp="1"/>
          </p:cNvSpPr>
          <p:nvPr>
            <p:ph type="body" sz="quarter" idx="12"/>
          </p:nvPr>
        </p:nvSpPr>
        <p:spPr>
          <a:xfrm>
            <a:off x="890270" y="1976755"/>
            <a:ext cx="8253095" cy="4044315"/>
          </a:xfrm>
        </p:spPr>
        <p:txBody>
          <a:bodyPr vert="horz" lIns="91440" tIns="45720" rIns="91440" bIns="45720" rtlCol="0" anchor="t">
            <a:noAutofit/>
          </a:bodyPr>
          <a:lstStyle/>
          <a:p>
            <a:pPr marL="0" indent="0" algn="just">
              <a:lnSpc>
                <a:spcPct val="100000"/>
              </a:lnSpc>
              <a:buNone/>
            </a:pPr>
            <a:r>
              <a:rPr lang="en-US" altLang="en-US" dirty="0"/>
              <a:t>This project uses a healthcare survey dataset of 5,190 patients covering doctor visits, illness count, income, gender, age, insurance type, and chronic conditions. The analysis includes data cleaning, exploratory data analysis, and visualizations built in Python to identify patterns — for example, how reduced-activity days correlate with visit frequency, how chronic illness affects visit counts, and how insurance coverage is distributed across the population. The goal is to turn raw survey data into insights that could support healthcare planning and resource allocation.</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p:cNvPicPr>
            <a:picLocks noChangeAspect="1"/>
          </p:cNvPicPr>
          <p:nvPr/>
        </p:nvPicPr>
        <p:blipFill>
          <a:blip r:embed="rId1"/>
          <a:stretch>
            <a:fillRect/>
          </a:stretch>
        </p:blipFill>
        <p:spPr>
          <a:xfrm>
            <a:off x="721359" y="6176804"/>
            <a:ext cx="2181225" cy="485775"/>
          </a:xfrm>
          <a:prstGeom prst="rect">
            <a:avLst/>
          </a:prstGeom>
        </p:spPr>
      </p:pic>
      <p:sp>
        <p:nvSpPr>
          <p:cNvPr id="3" name="Text Placeholder 2"/>
          <p:cNvSpPr>
            <a:spLocks noGrp="1"/>
          </p:cNvSpPr>
          <p:nvPr>
            <p:ph type="body" sz="quarter" idx="12"/>
          </p:nvPr>
        </p:nvSpPr>
        <p:spPr>
          <a:xfrm>
            <a:off x="1046480" y="2491105"/>
            <a:ext cx="8233410" cy="3030855"/>
          </a:xfrm>
        </p:spPr>
        <p:txBody>
          <a:bodyPr vert="horz" lIns="91440" tIns="45720" rIns="91440" bIns="45720" rtlCol="0" anchor="t">
            <a:noAutofit/>
          </a:bodyPr>
          <a:lstStyle/>
          <a:p>
            <a:pPr marL="0" indent="0" algn="just">
              <a:lnSpc>
                <a:spcPct val="100000"/>
              </a:lnSpc>
              <a:buFont typeface="Wingdings" panose="05000000000000000000" charset="0"/>
              <a:buNone/>
            </a:pPr>
            <a:r>
              <a:rPr lang="en-US" altLang="en-US" dirty="0"/>
              <a:t>Healthcare policy analysts and insurance providers who need to understand patient behavior patterns; hospital administrators planning for patient load and outreach; and public health researchers studying how income and insurance access affect healthcare utilization.</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1"/>
          <a:stretch>
            <a:fillRect/>
          </a:stretch>
        </p:blipFill>
        <p:spPr>
          <a:xfrm>
            <a:off x="467359" y="6410461"/>
            <a:ext cx="3706253" cy="296092"/>
          </a:xfrm>
          <a:prstGeom prst="rect">
            <a:avLst/>
          </a:prstGeom>
        </p:spPr>
      </p:pic>
      <p:pic>
        <p:nvPicPr>
          <p:cNvPr id="2" name="Picture 1"/>
          <p:cNvPicPr>
            <a:picLocks noChangeAspect="1"/>
          </p:cNvPicPr>
          <p:nvPr/>
        </p:nvPicPr>
        <p:blipFill>
          <a:blip r:embed="rId2"/>
          <a:stretch>
            <a:fillRect/>
          </a:stretch>
        </p:blipFill>
        <p:spPr>
          <a:xfrm flipH="1">
            <a:off x="50800" y="3820160"/>
            <a:ext cx="1727200" cy="3010024"/>
          </a:xfrm>
          <a:prstGeom prst="rect">
            <a:avLst/>
          </a:prstGeom>
        </p:spPr>
      </p:pic>
      <p:sp>
        <p:nvSpPr>
          <p:cNvPr id="9" name="Title 8"/>
          <p:cNvSpPr>
            <a:spLocks noGrp="1"/>
          </p:cNvSpPr>
          <p:nvPr>
            <p:ph type="title"/>
          </p:nvPr>
        </p:nvSpPr>
        <p:spPr>
          <a:xfrm>
            <a:off x="660399" y="430567"/>
            <a:ext cx="5306291" cy="847817"/>
          </a:xfrm>
        </p:spPr>
        <p:txBody>
          <a:bodyPr>
            <a:normAutofit/>
          </a:bodyPr>
          <a:lstStyle/>
          <a:p>
            <a:r>
              <a:rPr lang="en-US" dirty="0"/>
              <a:t>Technology Used</a:t>
            </a:r>
            <a:endParaRPr lang="en-US" dirty="0"/>
          </a:p>
        </p:txBody>
      </p:sp>
      <p:sp>
        <p:nvSpPr>
          <p:cNvPr id="3" name="Text Placeholder 2"/>
          <p:cNvSpPr>
            <a:spLocks noGrp="1"/>
          </p:cNvSpPr>
          <p:nvPr>
            <p:ph type="body" sz="quarter" idx="12"/>
          </p:nvPr>
        </p:nvSpPr>
        <p:spPr>
          <a:xfrm>
            <a:off x="1488440" y="2071370"/>
            <a:ext cx="7655560" cy="2602865"/>
          </a:xfrm>
        </p:spPr>
        <p:txBody>
          <a:bodyPr vert="horz" lIns="91440" tIns="45720" rIns="91440" bIns="45720" rtlCol="0" anchor="t">
            <a:noAutofit/>
          </a:bodyPr>
          <a:lstStyle/>
          <a:p>
            <a:pPr marL="457200" indent="-457200" algn="just">
              <a:lnSpc>
                <a:spcPct val="100000"/>
              </a:lnSpc>
              <a:buAutoNum type="arabicPeriod"/>
            </a:pPr>
            <a:r>
              <a:rPr lang="en-US" altLang="en-US" dirty="0"/>
              <a:t>Python</a:t>
            </a:r>
            <a:endParaRPr lang="en-US" altLang="en-US" dirty="0"/>
          </a:p>
          <a:p>
            <a:pPr marL="457200" indent="-457200" algn="just">
              <a:lnSpc>
                <a:spcPct val="100000"/>
              </a:lnSpc>
              <a:buAutoNum type="arabicPeriod"/>
            </a:pPr>
            <a:r>
              <a:rPr lang="en-US" altLang="en-US" dirty="0"/>
              <a:t>Pandas</a:t>
            </a:r>
            <a:endParaRPr lang="en-US" altLang="en-US" dirty="0"/>
          </a:p>
          <a:p>
            <a:pPr marL="457200" indent="-457200" algn="just">
              <a:lnSpc>
                <a:spcPct val="100000"/>
              </a:lnSpc>
              <a:buAutoNum type="arabicPeriod"/>
            </a:pPr>
            <a:r>
              <a:rPr lang="en-US" altLang="en-US" dirty="0"/>
              <a:t>NumPy</a:t>
            </a:r>
            <a:endParaRPr lang="en-US" altLang="en-US" dirty="0"/>
          </a:p>
          <a:p>
            <a:pPr marL="457200" indent="-457200" algn="just">
              <a:lnSpc>
                <a:spcPct val="100000"/>
              </a:lnSpc>
              <a:buAutoNum type="arabicPeriod"/>
            </a:pPr>
            <a:r>
              <a:rPr lang="en-US" altLang="en-US" dirty="0"/>
              <a:t>Matplotlib</a:t>
            </a:r>
            <a:endParaRPr lang="en-US" altLang="en-US" dirty="0"/>
          </a:p>
          <a:p>
            <a:pPr marL="457200" indent="-457200" algn="just">
              <a:lnSpc>
                <a:spcPct val="100000"/>
              </a:lnSpc>
              <a:buAutoNum type="arabicPeriod"/>
            </a:pPr>
            <a:r>
              <a:rPr lang="en-US" altLang="en-US" dirty="0"/>
              <a:t>Seaborn</a:t>
            </a:r>
            <a:endParaRPr lang="en-US" altLang="en-US" dirty="0"/>
          </a:p>
          <a:p>
            <a:pPr marL="457200" indent="-457200" algn="just">
              <a:lnSpc>
                <a:spcPct val="100000"/>
              </a:lnSpc>
              <a:buAutoNum type="arabicPeriod"/>
            </a:pPr>
            <a:r>
              <a:rPr lang="en-US" altLang="en-US" dirty="0"/>
              <a:t>Google Colab (Jupyter Notebook environment)</a:t>
            </a:r>
            <a:endParaRPr lang="en-US" alt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0" end="0"/>
                                            </p:txEl>
                                          </p:spTgt>
                                        </p:tgtEl>
                                        <p:attrNameLst>
                                          <p:attrName>style.visibility</p:attrName>
                                        </p:attrNameLst>
                                      </p:cBhvr>
                                      <p:to>
                                        <p:strVal val="visible"/>
                                      </p:to>
                                    </p:set>
                                    <p:animEffect transition="in" filter="fade">
                                      <p:cBhvr>
                                        <p:cTn id="14" dur="1000"/>
                                        <p:tgtEl>
                                          <p:spTgt spid="3">
                                            <p:txEl>
                                              <p:pRg st="0" end="0"/>
                                            </p:txEl>
                                          </p:spTgt>
                                        </p:tgtEl>
                                      </p:cBhvr>
                                    </p:animEffect>
                                    <p:anim calcmode="lin" valueType="num">
                                      <p:cBhvr>
                                        <p:cTn id="15"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1" end="1"/>
                                            </p:txEl>
                                          </p:spTgt>
                                        </p:tgtEl>
                                        <p:attrNameLst>
                                          <p:attrName>style.visibility</p:attrName>
                                        </p:attrNameLst>
                                      </p:cBhvr>
                                      <p:to>
                                        <p:strVal val="visible"/>
                                      </p:to>
                                    </p:set>
                                    <p:animEffect transition="in" filter="fade">
                                      <p:cBhvr>
                                        <p:cTn id="21" dur="1000"/>
                                        <p:tgtEl>
                                          <p:spTgt spid="3">
                                            <p:txEl>
                                              <p:pRg st="1" end="1"/>
                                            </p:txEl>
                                          </p:spTgt>
                                        </p:tgtEl>
                                      </p:cBhvr>
                                    </p:animEffect>
                                    <p:anim calcmode="lin" valueType="num">
                                      <p:cBhvr>
                                        <p:cTn id="22"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3" end="3"/>
                                            </p:txEl>
                                          </p:spTgt>
                                        </p:tgtEl>
                                        <p:attrNameLst>
                                          <p:attrName>style.visibility</p:attrName>
                                        </p:attrNameLst>
                                      </p:cBhvr>
                                      <p:to>
                                        <p:strVal val="visible"/>
                                      </p:to>
                                    </p:set>
                                    <p:animEffect transition="in" filter="fade">
                                      <p:cBhvr>
                                        <p:cTn id="35" dur="1000"/>
                                        <p:tgtEl>
                                          <p:spTgt spid="3">
                                            <p:txEl>
                                              <p:pRg st="3" end="3"/>
                                            </p:txEl>
                                          </p:spTgt>
                                        </p:tgtEl>
                                      </p:cBhvr>
                                    </p:animEffect>
                                    <p:anim calcmode="lin" valueType="num">
                                      <p:cBhvr>
                                        <p:cTn id="36"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4" end="4"/>
                                            </p:txEl>
                                          </p:spTgt>
                                        </p:tgtEl>
                                        <p:attrNameLst>
                                          <p:attrName>style.visibility</p:attrName>
                                        </p:attrNameLst>
                                      </p:cBhvr>
                                      <p:to>
                                        <p:strVal val="visible"/>
                                      </p:to>
                                    </p:set>
                                    <p:animEffect transition="in" filter="fade">
                                      <p:cBhvr>
                                        <p:cTn id="42" dur="1000"/>
                                        <p:tgtEl>
                                          <p:spTgt spid="3">
                                            <p:txEl>
                                              <p:pRg st="4" end="4"/>
                                            </p:txEl>
                                          </p:spTgt>
                                        </p:tgtEl>
                                      </p:cBhvr>
                                    </p:animEffect>
                                    <p:anim calcmode="lin" valueType="num">
                                      <p:cBhvr>
                                        <p:cTn id="4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5" end="5"/>
                                            </p:txEl>
                                          </p:spTgt>
                                        </p:tgtEl>
                                        <p:attrNameLst>
                                          <p:attrName>style.visibility</p:attrName>
                                        </p:attrNameLst>
                                      </p:cBhvr>
                                      <p:to>
                                        <p:strVal val="visible"/>
                                      </p:to>
                                    </p:set>
                                    <p:animEffect transition="in" filter="fade">
                                      <p:cBhvr>
                                        <p:cTn id="49" dur="1000"/>
                                        <p:tgtEl>
                                          <p:spTgt spid="3">
                                            <p:txEl>
                                              <p:pRg st="5" end="5"/>
                                            </p:txEl>
                                          </p:spTgt>
                                        </p:tgtEl>
                                      </p:cBhvr>
                                    </p:animEffect>
                                    <p:anim calcmode="lin" valueType="num">
                                      <p:cBhvr>
                                        <p:cTn id="50"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4" name="Title 3"/>
          <p:cNvSpPr>
            <a:spLocks noGrp="1"/>
          </p:cNvSpPr>
          <p:nvPr>
            <p:ph type="title"/>
          </p:nvPr>
        </p:nvSpPr>
        <p:spPr>
          <a:xfrm>
            <a:off x="675640" y="50165"/>
            <a:ext cx="1762760" cy="729615"/>
          </a:xfrm>
        </p:spPr>
        <p:txBody>
          <a:bodyPr>
            <a:normAutofit fontScale="90000"/>
          </a:bodyPr>
          <a:lstStyle/>
          <a:p>
            <a:r>
              <a:rPr lang="en-GB" sz="3200" dirty="0"/>
              <a:t>RESULTS</a:t>
            </a:r>
            <a:r>
              <a:rPr lang="en-GB" dirty="0"/>
              <a:t> </a:t>
            </a:r>
            <a:endParaRPr lang="en-IN"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descr="Screenshot 2026-09-19 171113"/>
          <p:cNvPicPr>
            <a:picLocks noChangeAspect="1"/>
          </p:cNvPicPr>
          <p:nvPr/>
        </p:nvPicPr>
        <p:blipFill>
          <a:blip r:embed="rId2"/>
          <a:stretch>
            <a:fillRect/>
          </a:stretch>
        </p:blipFill>
        <p:spPr>
          <a:xfrm>
            <a:off x="3286125" y="1362075"/>
            <a:ext cx="5619750" cy="413448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7" name="Text Placeholder 30"/>
          <p:cNvSpPr txBox="1"/>
          <p:nvPr/>
        </p:nvSpPr>
        <p:spPr>
          <a:xfrm>
            <a:off x="2680642" y="1817026"/>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8"/>
          <p:cNvSpPr>
            <a:spLocks noGrp="1"/>
          </p:cNvSpPr>
          <p:nvPr>
            <p:ph type="title"/>
          </p:nvPr>
        </p:nvSpPr>
        <p:spPr>
          <a:xfrm>
            <a:off x="675640" y="83820"/>
            <a:ext cx="1762760" cy="666750"/>
          </a:xfrm>
        </p:spPr>
        <p:txBody>
          <a:bodyPr>
            <a:normAutofit fontScale="90000"/>
          </a:bodyPr>
          <a:lstStyle/>
          <a:p>
            <a:r>
              <a:rPr lang="en-GB" sz="3200" dirty="0"/>
              <a:t>RESULTS</a:t>
            </a:r>
            <a:r>
              <a:rPr lang="en-GB" dirty="0"/>
              <a:t> </a:t>
            </a:r>
            <a:endParaRPr lang="en-IN" dirty="0"/>
          </a:p>
        </p:txBody>
      </p:sp>
      <p:pic>
        <p:nvPicPr>
          <p:cNvPr id="4" name="Picture 3" descr="Screenshot 2026-09-19 171202"/>
          <p:cNvPicPr>
            <a:picLocks noChangeAspect="1"/>
          </p:cNvPicPr>
          <p:nvPr/>
        </p:nvPicPr>
        <p:blipFill>
          <a:blip r:embed="rId2"/>
          <a:stretch>
            <a:fillRect/>
          </a:stretch>
        </p:blipFill>
        <p:spPr>
          <a:xfrm>
            <a:off x="3161665" y="1362075"/>
            <a:ext cx="5868035" cy="41332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8"/>
          <p:cNvSpPr>
            <a:spLocks noGrp="1"/>
          </p:cNvSpPr>
          <p:nvPr>
            <p:ph type="title"/>
          </p:nvPr>
        </p:nvSpPr>
        <p:spPr>
          <a:xfrm>
            <a:off x="675640" y="0"/>
            <a:ext cx="1762760" cy="729615"/>
          </a:xfrm>
        </p:spPr>
        <p:txBody>
          <a:bodyPr>
            <a:normAutofit fontScale="90000"/>
          </a:bodyPr>
          <a:lstStyle/>
          <a:p>
            <a:r>
              <a:rPr lang="en-GB" sz="3200" dirty="0"/>
              <a:t>RESULTS</a:t>
            </a:r>
            <a:r>
              <a:rPr lang="en-GB" dirty="0"/>
              <a:t> </a:t>
            </a:r>
            <a:endParaRPr lang="en-IN" dirty="0"/>
          </a:p>
        </p:txBody>
      </p:sp>
      <p:pic>
        <p:nvPicPr>
          <p:cNvPr id="4" name="Picture 3" descr="Screenshot 2026-09-19 171142"/>
          <p:cNvPicPr>
            <a:picLocks noChangeAspect="1"/>
          </p:cNvPicPr>
          <p:nvPr/>
        </p:nvPicPr>
        <p:blipFill>
          <a:blip r:embed="rId2"/>
          <a:stretch>
            <a:fillRect/>
          </a:stretch>
        </p:blipFill>
        <p:spPr>
          <a:xfrm>
            <a:off x="2981325" y="886460"/>
            <a:ext cx="6229985" cy="508571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8"/>
          <p:cNvSpPr>
            <a:spLocks noGrp="1"/>
          </p:cNvSpPr>
          <p:nvPr>
            <p:ph type="title"/>
          </p:nvPr>
        </p:nvSpPr>
        <p:spPr>
          <a:xfrm>
            <a:off x="675640" y="122555"/>
            <a:ext cx="1762760" cy="729615"/>
          </a:xfrm>
        </p:spPr>
        <p:txBody>
          <a:bodyPr>
            <a:normAutofit fontScale="90000"/>
          </a:bodyPr>
          <a:lstStyle/>
          <a:p>
            <a:r>
              <a:rPr lang="en-GB" sz="3200" dirty="0"/>
              <a:t>RESULTS</a:t>
            </a:r>
            <a:r>
              <a:rPr lang="en-GB" dirty="0"/>
              <a:t> </a:t>
            </a:r>
            <a:endParaRPr lang="en-IN" dirty="0"/>
          </a:p>
        </p:txBody>
      </p:sp>
      <p:pic>
        <p:nvPicPr>
          <p:cNvPr id="3" name="Picture 2" descr="Screenshot 2026-09-19 171223"/>
          <p:cNvPicPr>
            <a:picLocks noChangeAspect="1"/>
          </p:cNvPicPr>
          <p:nvPr/>
        </p:nvPicPr>
        <p:blipFill>
          <a:blip r:embed="rId2"/>
          <a:stretch>
            <a:fillRect/>
          </a:stretch>
        </p:blipFill>
        <p:spPr>
          <a:xfrm>
            <a:off x="3796030" y="1352550"/>
            <a:ext cx="4600575" cy="431355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8"/>
          <p:cNvSpPr>
            <a:spLocks noGrp="1"/>
          </p:cNvSpPr>
          <p:nvPr>
            <p:ph type="title"/>
          </p:nvPr>
        </p:nvSpPr>
        <p:spPr>
          <a:xfrm>
            <a:off x="675640" y="122555"/>
            <a:ext cx="1762760" cy="729615"/>
          </a:xfrm>
        </p:spPr>
        <p:txBody>
          <a:bodyPr>
            <a:normAutofit fontScale="90000"/>
          </a:bodyPr>
          <a:lstStyle/>
          <a:p>
            <a:r>
              <a:rPr lang="en-GB" sz="3200" dirty="0"/>
              <a:t>RESULTS</a:t>
            </a:r>
            <a:r>
              <a:rPr lang="en-GB" dirty="0"/>
              <a:t> </a:t>
            </a:r>
            <a:endParaRPr lang="en-IN" dirty="0"/>
          </a:p>
        </p:txBody>
      </p:sp>
      <p:pic>
        <p:nvPicPr>
          <p:cNvPr id="3" name="Picture 2" descr="Screenshot 2026-09-19 171303"/>
          <p:cNvPicPr>
            <a:picLocks noChangeAspect="1"/>
          </p:cNvPicPr>
          <p:nvPr/>
        </p:nvPicPr>
        <p:blipFill>
          <a:blip r:embed="rId2"/>
          <a:stretch>
            <a:fillRect/>
          </a:stretch>
        </p:blipFill>
        <p:spPr>
          <a:xfrm>
            <a:off x="3058160" y="1252220"/>
            <a:ext cx="6075680" cy="435292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1"/>
          <a:srcRect t="96181"/>
          <a:stretch>
            <a:fillRect/>
          </a:stretch>
        </p:blipFill>
        <p:spPr>
          <a:xfrm>
            <a:off x="675957" y="6471920"/>
            <a:ext cx="2143125" cy="193040"/>
          </a:xfrm>
          <a:prstGeom prst="rect">
            <a:avLst/>
          </a:prstGeom>
        </p:spPr>
      </p:pic>
      <p:sp>
        <p:nvSpPr>
          <p:cNvPr id="7" name="Text Placeholder 30"/>
          <p:cNvSpPr txBox="1"/>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p:cNvSpPr txBox="1"/>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8"/>
          <p:cNvSpPr>
            <a:spLocks noGrp="1"/>
          </p:cNvSpPr>
          <p:nvPr>
            <p:ph type="title"/>
          </p:nvPr>
        </p:nvSpPr>
        <p:spPr>
          <a:xfrm>
            <a:off x="675640" y="122555"/>
            <a:ext cx="4232910" cy="729615"/>
          </a:xfrm>
        </p:spPr>
        <p:txBody>
          <a:bodyPr>
            <a:normAutofit fontScale="90000"/>
          </a:bodyPr>
          <a:lstStyle/>
          <a:p>
            <a:r>
              <a:rPr lang="en-IN" altLang="en-GB" dirty="0"/>
              <a:t>GITHUB LINK</a:t>
            </a:r>
            <a:r>
              <a:rPr lang="en-GB" dirty="0"/>
              <a:t> </a:t>
            </a:r>
            <a:endParaRPr lang="en-IN" dirty="0"/>
          </a:p>
        </p:txBody>
      </p:sp>
      <p:sp>
        <p:nvSpPr>
          <p:cNvPr id="6" name="Text Placeholder 2"/>
          <p:cNvSpPr>
            <a:spLocks noGrp="1"/>
          </p:cNvSpPr>
          <p:nvPr/>
        </p:nvSpPr>
        <p:spPr>
          <a:xfrm>
            <a:off x="1226820" y="3274060"/>
            <a:ext cx="9738995" cy="426085"/>
          </a:xfrm>
          <a:prstGeom prst="rect">
            <a:avLst/>
          </a:prstGeom>
        </p:spPr>
        <p:txBody>
          <a:bodyPr vert="horz" lIns="91440" tIns="45720" rIns="91440" bIns="45720" rtlCol="0" anchor="t">
            <a:noAutofit/>
          </a:bodyPr>
          <a:lstStyle>
            <a:lvl1pPr marL="342900" indent="-342900" algn="l" defTabSz="457200" rtl="0" eaLnBrk="1" latinLnBrk="0" hangingPunct="1">
              <a:spcBef>
                <a:spcPts val="1000"/>
              </a:spcBef>
              <a:spcAft>
                <a:spcPts val="0"/>
              </a:spcAft>
              <a:buClr>
                <a:schemeClr val="accent4"/>
              </a:buClr>
              <a:buSzPct val="80000"/>
              <a:buFont typeface="Wingdings" panose="05000000000000000000" pitchFamily="2" charset="2"/>
              <a:buChar char="§"/>
              <a:defRPr sz="20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4"/>
              </a:buClr>
              <a:buSzPct val="80000"/>
              <a:buFont typeface="Wingdings" panose="05000000000000000000" pitchFamily="2" charset="2"/>
              <a:buChar char="§"/>
              <a:defRPr sz="18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4"/>
              </a:buClr>
              <a:buSzPct val="80000"/>
              <a:buFont typeface="Wingdings" panose="05000000000000000000" pitchFamily="2" charset="2"/>
              <a:buChar char="§"/>
              <a:defRPr sz="16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pPr marL="0" indent="0" algn="just">
              <a:lnSpc>
                <a:spcPct val="100000"/>
              </a:lnSpc>
              <a:buFont typeface="Wingdings" panose="05000000000000000000" charset="0"/>
              <a:buNone/>
            </a:pPr>
            <a:r>
              <a:rPr lang="en-US" altLang="en-US" sz="1800" dirty="0"/>
              <a:t>https://github.com/GauthamKrishna42/Healthcare_Analytics_for_Doctor_Visits.git</a:t>
            </a:r>
            <a:endParaRPr lang="en-US" altLang="en-US"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 calcmode="lin" valueType="num">
                                      <p:cBhvr>
                                        <p:cTn id="21" dur="500" fill="hold"/>
                                        <p:tgtEl>
                                          <p:spTgt spid="9"/>
                                        </p:tgtEl>
                                        <p:attrNameLst>
                                          <p:attrName>ppt_w</p:attrName>
                                        </p:attrNameLst>
                                      </p:cBhvr>
                                      <p:tavLst>
                                        <p:tav tm="0">
                                          <p:val>
                                            <p:fltVal val="0"/>
                                          </p:val>
                                        </p:tav>
                                        <p:tav tm="100000">
                                          <p:val>
                                            <p:strVal val="#ppt_w"/>
                                          </p:val>
                                        </p:tav>
                                      </p:tavLst>
                                    </p:anim>
                                    <p:anim calcmode="lin" valueType="num">
                                      <p:cBhvr>
                                        <p:cTn id="22" dur="500" fill="hold"/>
                                        <p:tgtEl>
                                          <p:spTgt spid="9"/>
                                        </p:tgtEl>
                                        <p:attrNameLst>
                                          <p:attrName>ppt_h</p:attrName>
                                        </p:attrNameLst>
                                      </p:cBhvr>
                                      <p:tavLst>
                                        <p:tav tm="0">
                                          <p:val>
                                            <p:fltVal val="0"/>
                                          </p:val>
                                        </p:tav>
                                        <p:tav tm="100000">
                                          <p:val>
                                            <p:strVal val="#ppt_h"/>
                                          </p:val>
                                        </p:tav>
                                      </p:tavLst>
                                    </p:anim>
                                    <p:animEffect transition="in" filter="fade">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6">
                                            <p:txEl>
                                              <p:pRg st="0" end="0"/>
                                            </p:txEl>
                                          </p:spTgt>
                                        </p:tgtEl>
                                        <p:attrNameLst>
                                          <p:attrName>style.visibility</p:attrName>
                                        </p:attrNameLst>
                                      </p:cBhvr>
                                      <p:to>
                                        <p:strVal val="visible"/>
                                      </p:to>
                                    </p:set>
                                    <p:animEffect transition="in" filter="fade">
                                      <p:cBhvr>
                                        <p:cTn id="28" dur="1000"/>
                                        <p:tgtEl>
                                          <p:spTgt spid="6">
                                            <p:txEl>
                                              <p:pRg st="0" end="0"/>
                                            </p:txEl>
                                          </p:spTgt>
                                        </p:tgtEl>
                                      </p:cBhvr>
                                    </p:animEffect>
                                    <p:anim calcmode="lin" valueType="num">
                                      <p:cBhvr>
                                        <p:cTn id="29"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p:nvPr>
        </p:nvSpPr>
        <p:spPr>
          <a:xfrm>
            <a:off x="0" y="3079115"/>
            <a:ext cx="12191365" cy="700405"/>
          </a:xfrm>
          <a:prstGeom prst="rect">
            <a:avLst/>
          </a:prstGeom>
        </p:spPr>
        <p:txBody>
          <a:bodyPr anchor="ctr">
            <a:normAutofit fontScale="90000"/>
          </a:bodyPr>
          <a:lstStyle/>
          <a:p>
            <a:pPr algn="ctr"/>
            <a:r>
              <a:rPr lang="en-US" sz="4800" b="1" dirty="0">
                <a:solidFill>
                  <a:schemeClr val="tx1"/>
                </a:solidFill>
              </a:rPr>
              <a:t>Thank you</a:t>
            </a:r>
            <a:endParaRPr lang="en-US" sz="4800" b="1" dirty="0">
              <a:solidFill>
                <a:schemeClr val="tx1"/>
              </a:solidFill>
            </a:endParaRPr>
          </a:p>
        </p:txBody>
      </p:sp>
      <p:sp>
        <p:nvSpPr>
          <p:cNvPr id="17" name="Text Placeholder 28"/>
          <p:cNvSpPr txBox="1"/>
          <p:nvPr/>
        </p:nvSpPr>
        <p:spPr>
          <a:xfrm>
            <a:off x="3499617" y="508982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3" name="Text Placeholder 28"/>
          <p:cNvSpPr txBox="1"/>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p:cNvSpPr txBox="1"/>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panose="05040102010807070707"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kern="1200">
                <a:solidFill>
                  <a:schemeClr val="tx1">
                    <a:lumMod val="75000"/>
                    <a:lumOff val="25000"/>
                  </a:schemeClr>
                </a:solidFill>
                <a:latin typeface="+mn-lt"/>
                <a:ea typeface="+mn-ea"/>
                <a:cs typeface="+mn-cs"/>
              </a:defRPr>
            </a:lvl9pPr>
          </a:lstStyle>
          <a:p>
            <a:endParaRPr lang="en-GB" dirty="0"/>
          </a:p>
        </p:txBody>
      </p:sp>
      <p:pic>
        <p:nvPicPr>
          <p:cNvPr id="15" name="Picture 14"/>
          <p:cNvPicPr>
            <a:picLocks noChangeAspect="1"/>
          </p:cNvPicPr>
          <p:nvPr/>
        </p:nvPicPr>
        <p:blipFill rotWithShape="1">
          <a:blip r:embed="rId1"/>
          <a:srcRect t="96181"/>
          <a:stretch>
            <a:fillRect/>
          </a:stretch>
        </p:blipFill>
        <p:spPr>
          <a:xfrm>
            <a:off x="675957" y="6471920"/>
            <a:ext cx="2143125" cy="19304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nodePh="1">
                                  <p:stCondLst>
                                    <p:cond delay="0"/>
                                  </p:stCondLst>
                                  <p:endCondLst>
                                    <p:cond evt="begin" delay="0">
                                      <p:tn val="18"/>
                                    </p:cond>
                                  </p:endCondLst>
                                  <p:childTnLst>
                                    <p:set>
                                      <p:cBhvr>
                                        <p:cTn id="19" dur="1" fill="hold">
                                          <p:stCondLst>
                                            <p:cond delay="0"/>
                                          </p:stCondLst>
                                        </p:cTn>
                                        <p:tgtEl>
                                          <p:spTgt spid="30"/>
                                        </p:tgtEl>
                                        <p:attrNameLst>
                                          <p:attrName>style.visibility</p:attrName>
                                        </p:attrNameLst>
                                      </p:cBhvr>
                                      <p:to>
                                        <p:strVal val="visible"/>
                                      </p:to>
                                    </p:set>
                                    <p:anim calcmode="lin" valueType="num">
                                      <p:cBhvr additive="base">
                                        <p:cTn id="20" dur="500"/>
                                        <p:tgtEl>
                                          <p:spTgt spid="30"/>
                                        </p:tgtEl>
                                        <p:attrNameLst>
                                          <p:attrName>ppt_y</p:attrName>
                                        </p:attrNameLst>
                                      </p:cBhvr>
                                      <p:tavLst>
                                        <p:tav tm="0">
                                          <p:val>
                                            <p:strVal val="#ppt_y+#ppt_h*1.125000"/>
                                          </p:val>
                                        </p:tav>
                                        <p:tav tm="100000">
                                          <p:val>
                                            <p:strVal val="#ppt_y"/>
                                          </p:val>
                                        </p:tav>
                                      </p:tavLst>
                                    </p:anim>
                                    <p:animEffect transition="in" filter="wipe(up)">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3"/>
                                        </p:tgtEl>
                                        <p:attrNameLst>
                                          <p:attrName>style.visibility</p:attrName>
                                        </p:attrNameLst>
                                      </p:cBhvr>
                                      <p:to>
                                        <p:strVal val="visible"/>
                                      </p:to>
                                    </p:set>
                                    <p:anim calcmode="lin" valueType="num">
                                      <p:cBhvr additive="base">
                                        <p:cTn id="26" dur="500"/>
                                        <p:tgtEl>
                                          <p:spTgt spid="23"/>
                                        </p:tgtEl>
                                        <p:attrNameLst>
                                          <p:attrName>ppt_y</p:attrName>
                                        </p:attrNameLst>
                                      </p:cBhvr>
                                      <p:tavLst>
                                        <p:tav tm="0">
                                          <p:val>
                                            <p:strVal val="#ppt_y+#ppt_h*1.125000"/>
                                          </p:val>
                                        </p:tav>
                                        <p:tav tm="100000">
                                          <p:val>
                                            <p:strVal val="#ppt_y"/>
                                          </p:val>
                                        </p:tav>
                                      </p:tavLst>
                                    </p:anim>
                                    <p:animEffect transition="in" filter="wipe(up)">
                                      <p:cBhvr>
                                        <p:cTn id="2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7" grpId="0"/>
      <p:bldP spid="23" grpId="0"/>
      <p:bldP spid="30"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9EB750-A6DA-4BE8-B87B-FC499FE73360}">
  <ds:schemaRefs/>
</ds:datastoreItem>
</file>

<file path=customXml/itemProps2.xml><?xml version="1.0" encoding="utf-8"?>
<ds:datastoreItem xmlns:ds="http://schemas.openxmlformats.org/officeDocument/2006/customXml" ds:itemID="{4DEA9014-ED64-4558-B1E1-D03F0EE32BEB}">
  <ds:schemaRefs/>
</ds:datastoreItem>
</file>

<file path=customXml/itemProps3.xml><?xml version="1.0" encoding="utf-8"?>
<ds:datastoreItem xmlns:ds="http://schemas.openxmlformats.org/officeDocument/2006/customXml" ds:itemID="{05D99ABA-76CE-4A8E-B5F0-C051B96628DE}">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1677</Words>
  <Application>WPS Presentation</Application>
  <PresentationFormat>Widescreen</PresentationFormat>
  <Paragraphs>44</Paragraphs>
  <Slides>12</Slides>
  <Notes>1</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12</vt:i4>
      </vt:variant>
    </vt:vector>
  </HeadingPairs>
  <TitlesOfParts>
    <vt:vector size="23" baseType="lpstr">
      <vt:lpstr>Arial</vt:lpstr>
      <vt:lpstr>SimSun</vt:lpstr>
      <vt:lpstr>Wingdings</vt:lpstr>
      <vt:lpstr>Wingdings 3</vt:lpstr>
      <vt:lpstr>Arial</vt:lpstr>
      <vt:lpstr>Calibri</vt:lpstr>
      <vt:lpstr>Wingdings</vt:lpstr>
      <vt:lpstr>Trebuchet MS</vt:lpstr>
      <vt:lpstr>Microsoft YaHei</vt:lpstr>
      <vt:lpstr>Arial Unicode MS</vt:lpstr>
      <vt:lpstr>Facet</vt:lpstr>
      <vt:lpstr>Project Title -Healthcare Analytics for Doctor Visits</vt:lpstr>
      <vt:lpstr>PROBLEM  STATEMENT</vt:lpstr>
      <vt:lpstr>Project Description  </vt:lpstr>
      <vt:lpstr>WHO ARE THE END USERS?</vt:lpstr>
      <vt:lpstr>Technology Used</vt:lpstr>
      <vt:lpstr>RESULTS </vt:lpstr>
      <vt:lpstr>RESULTS </vt:lpstr>
      <vt:lpstr>RESULTS </vt:lpstr>
      <vt:lpstr>RESULTS </vt:lpstr>
      <vt:lpstr>RESULTS </vt:lpstr>
      <vt:lpstr>RESULTS </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krish</cp:lastModifiedBy>
  <cp:revision>108</cp:revision>
  <dcterms:created xsi:type="dcterms:W3CDTF">2021-07-11T13:13:00Z</dcterms:created>
  <dcterms:modified xsi:type="dcterms:W3CDTF">2026-10-01T07:44:13Z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E4EEA28A8B324B6890F920CFF77F057A_13</vt:lpwstr>
  </property>
  <property fmtid="{D5CDD505-2E9C-101B-9397-08002B2CF9AE}" pid="4" name="KSOProductBuildVer">
    <vt:lpwstr>1033-12.1.0.28485</vt:lpwstr>
  </property>
</Properties>
</file>